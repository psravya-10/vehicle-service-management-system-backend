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aragsa" charset="1" panose="00000000000000000000"/>
      <p:regular r:id="rId21"/>
    </p:embeddedFont>
    <p:embeddedFont>
      <p:font typeface="Times New Roman MT" charset="1" panose="02030502070405020303"/>
      <p:regular r:id="rId22"/>
    </p:embeddedFont>
    <p:embeddedFont>
      <p:font typeface="Times New Roman MT Bold" charset="1" panose="02030802070405020303"/>
      <p:regular r:id="rId23"/>
    </p:embeddedFont>
    <p:embeddedFont>
      <p:font typeface="Arimo Bold" charset="1" panose="020B0704020202020204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33922" y="3291360"/>
            <a:ext cx="11020156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VEHICLE  SERVICE MANAGEMENT SYSTEM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32959" y="-2455521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30195" y="70903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89034" y="7713170"/>
            <a:ext cx="5730088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by : podila sravya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Email: podilasravya7052@gmail.com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03559" y="-123825"/>
            <a:ext cx="1196775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15425664" cy="964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Vehicle Service Management System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microservices-based web application for automobile service centers.</a:t>
            </a: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Manual tracking of service requests and vehicle history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Inefficient technician scheduling and service bay allocation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Delayed spare parts management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Limited visibility into workload and revenue</a:t>
            </a: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Solution:</a:t>
            </a: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full-stack enterprise application that provides: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End-to-end service request lifecycle management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Role-based dashboards for Admin, Manager, Technician, and Customer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Automated billing and invoice generation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Real-time email notifications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Inventory and spare parts management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Reports and analytics dashboard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4534" y="76405"/>
            <a:ext cx="11938931" cy="222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MICROSERVICES ARCHITECTURE</a:t>
            </a:r>
          </a:p>
          <a:p>
            <a:pPr algn="ctr">
              <a:lnSpc>
                <a:spcPts val="8997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38084" y="1853383"/>
            <a:ext cx="13411832" cy="810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8 Microservices: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Config Server (8888) - Centralized configuration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Eureka Server (8761) - Service discovery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</a:t>
            </a: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 Gateway (9090) - Entry point, JWT authentication, routing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 Service - Authentication, user management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Veh</a:t>
            </a: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icle Service - Vehicle registration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Inventory Service - Spare parts, part requests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Servic</a:t>
            </a: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Request Service - Service lifecycle, billing, bays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Notification Service - Email notifications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Inter-Service Communication: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Feign Clients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RabbitMQ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13789" y="1796003"/>
            <a:ext cx="9355503" cy="8311518"/>
          </a:xfrm>
          <a:custGeom>
            <a:avLst/>
            <a:gdLst/>
            <a:ahLst/>
            <a:cxnLst/>
            <a:rect r="r" b="b" t="t" l="l"/>
            <a:pathLst>
              <a:path h="8311518" w="9355503">
                <a:moveTo>
                  <a:pt x="0" y="0"/>
                </a:moveTo>
                <a:lnTo>
                  <a:pt x="9355503" y="0"/>
                </a:lnTo>
                <a:lnTo>
                  <a:pt x="9355503" y="8311518"/>
                </a:lnTo>
                <a:lnTo>
                  <a:pt x="0" y="8311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28" t="0" r="-289" b="-35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6353" y="419761"/>
            <a:ext cx="11590377" cy="109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MICROSERVICES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4534" y="76405"/>
            <a:ext cx="11938931" cy="216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DATABASE SCHEMA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147671" y="1221456"/>
            <a:ext cx="9936717" cy="9065544"/>
          </a:xfrm>
          <a:custGeom>
            <a:avLst/>
            <a:gdLst/>
            <a:ahLst/>
            <a:cxnLst/>
            <a:rect r="r" b="b" t="t" l="l"/>
            <a:pathLst>
              <a:path h="9065544" w="9936717">
                <a:moveTo>
                  <a:pt x="0" y="0"/>
                </a:moveTo>
                <a:lnTo>
                  <a:pt x="9936717" y="0"/>
                </a:lnTo>
                <a:lnTo>
                  <a:pt x="9936717" y="9065544"/>
                </a:lnTo>
                <a:lnTo>
                  <a:pt x="0" y="9065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" t="-1666" r="0" b="-1666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13169" y="1847135"/>
          <a:ext cx="6399584" cy="6495856"/>
        </p:xfrm>
        <a:graphic>
          <a:graphicData uri="http://schemas.openxmlformats.org/drawingml/2006/table">
            <a:tbl>
              <a:tblPr/>
              <a:tblGrid>
                <a:gridCol w="2859338"/>
                <a:gridCol w="3540246"/>
              </a:tblGrid>
              <a:tr h="12646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Collections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6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User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6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Vehicle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vehicles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0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Inventory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spare_parts</a:t>
                      </a: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,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part_requests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09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Service Request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service_requests</a:t>
                      </a: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,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invoices</a:t>
                      </a:r>
                      <a:r>
                        <a:rPr lang="en-US" sz="2499">
                          <a:solidFill>
                            <a:srgbClr val="3B3B3B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,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service_bays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4534" y="76405"/>
            <a:ext cx="11938931" cy="222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USER ROLES &amp; RESPONSIBILITIES</a:t>
            </a:r>
          </a:p>
          <a:p>
            <a:pPr algn="ctr">
              <a:lnSpc>
                <a:spcPts val="8997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00183" y="1422971"/>
            <a:ext cx="14968379" cy="810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ADMIN :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Approve/Reject Registrations , Manage Users ,V</a:t>
            </a: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ew Reports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MANAGER: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Assign Technicians , Manage Bays , Approve Parts , Close Services ,Generate Invoices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TECHNICIAN :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View Tasks , Update Status , Request Parts , Add Used Parts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 :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Register Vehicles , Create Requests , Track Status , View History , Pay Invoices</a:t>
            </a:r>
          </a:p>
          <a:p>
            <a:pPr algn="just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4534" y="76405"/>
            <a:ext cx="11938931" cy="222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SERVICE REQUEST WORKFLOW</a:t>
            </a:r>
          </a:p>
          <a:p>
            <a:pPr algn="ctr">
              <a:lnSpc>
                <a:spcPts val="8997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38084" y="1109206"/>
            <a:ext cx="13411832" cy="1013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Lifecycl</a:t>
            </a: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 Flow: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PENDING → ASSIGNED → IN_PROGRESS → COMPLETED → CLOSED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Step-by-Step: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 creates service request with vehicle &amp; issue details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Manager assigns technician and service bay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Notification sent to customer (email via RabbitMQ)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Technician starts work, updates status to IN_PROGRESS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Technician requests spare parts if needed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Manager approves part requests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Technician completes service, adds used parts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Manager closes service request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generates invoice with labour + parts total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Notification sends invoice to customer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 pays invoice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252081"/>
          <a:ext cx="16410763" cy="8826118"/>
        </p:xfrm>
        <a:graphic>
          <a:graphicData uri="http://schemas.openxmlformats.org/drawingml/2006/table">
            <a:tbl>
              <a:tblPr/>
              <a:tblGrid>
                <a:gridCol w="8205381"/>
                <a:gridCol w="8205381"/>
              </a:tblGrid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Authentication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JWT login, Role-based access, Password change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Vehicles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Register, View history, Multiple vehicles per customer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Service Requests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Create, Assign, Track status, Priority levels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Technician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Workload tracking, Availability 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Service Bays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Bay allocation, Status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Inventory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Parts catalog, Stock tracking, Part requests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Billing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 invoice generation, Payment tracking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06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B3B3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Notifications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B3B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 on registration, service updates, invoices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174534" y="76405"/>
            <a:ext cx="11938931" cy="222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KEY FEATURES IMPLEMENTED</a:t>
            </a:r>
          </a:p>
          <a:p>
            <a:pPr algn="ctr">
              <a:lnSpc>
                <a:spcPts val="89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4534" y="66880"/>
            <a:ext cx="1193893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CI/CD PIPELINE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879248" y="1155700"/>
            <a:ext cx="14529504" cy="810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Jenkins Pipeline Stages: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GitHub → Build &amp; Test → SonarCloud → Docker Build → Docker Compose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Checkout - Pull code from GitHub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Build &amp; Test - Maven verify, JUnit tests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SonarCloud - Code quality analysis, coverage reports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Docker Build - Build images for all services</a:t>
            </a:r>
          </a:p>
          <a:p>
            <a:pPr algn="just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Docker Compose - Deploy all containers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Code Quality: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Unit Tests: JUnit 5, Mockito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Coverage: JaCoCo (90%)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Analysis: SonarCloud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0541" y="1168278"/>
            <a:ext cx="12686917" cy="9118722"/>
          </a:xfrm>
          <a:custGeom>
            <a:avLst/>
            <a:gdLst/>
            <a:ahLst/>
            <a:cxnLst/>
            <a:rect r="r" b="b" t="t" l="l"/>
            <a:pathLst>
              <a:path h="9118722" w="12686917">
                <a:moveTo>
                  <a:pt x="0" y="0"/>
                </a:moveTo>
                <a:lnTo>
                  <a:pt x="12686918" y="0"/>
                </a:lnTo>
                <a:lnTo>
                  <a:pt x="12686918" y="9118722"/>
                </a:lnTo>
                <a:lnTo>
                  <a:pt x="0" y="9118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8390" y="266905"/>
            <a:ext cx="1231280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CI/CD PIPELINE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1035" y="2043500"/>
            <a:ext cx="13765929" cy="6882965"/>
          </a:xfrm>
          <a:custGeom>
            <a:avLst/>
            <a:gdLst/>
            <a:ahLst/>
            <a:cxnLst/>
            <a:rect r="r" b="b" t="t" l="l"/>
            <a:pathLst>
              <a:path h="6882965" w="13765929">
                <a:moveTo>
                  <a:pt x="0" y="0"/>
                </a:moveTo>
                <a:lnTo>
                  <a:pt x="13765930" y="0"/>
                </a:lnTo>
                <a:lnTo>
                  <a:pt x="13765930" y="6882965"/>
                </a:lnTo>
                <a:lnTo>
                  <a:pt x="0" y="688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8390" y="266905"/>
            <a:ext cx="1231280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SONARQUBE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7375" y="1829864"/>
            <a:ext cx="16713250" cy="8293950"/>
          </a:xfrm>
          <a:custGeom>
            <a:avLst/>
            <a:gdLst/>
            <a:ahLst/>
            <a:cxnLst/>
            <a:rect r="r" b="b" t="t" l="l"/>
            <a:pathLst>
              <a:path h="8293950" w="16713250">
                <a:moveTo>
                  <a:pt x="0" y="0"/>
                </a:moveTo>
                <a:lnTo>
                  <a:pt x="16713250" y="0"/>
                </a:lnTo>
                <a:lnTo>
                  <a:pt x="16713250" y="8293950"/>
                </a:lnTo>
                <a:lnTo>
                  <a:pt x="0" y="829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2682" y="258239"/>
            <a:ext cx="1231280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DOCKER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7194" y="1443365"/>
            <a:ext cx="15943403" cy="3700135"/>
          </a:xfrm>
          <a:custGeom>
            <a:avLst/>
            <a:gdLst/>
            <a:ahLst/>
            <a:cxnLst/>
            <a:rect r="r" b="b" t="t" l="l"/>
            <a:pathLst>
              <a:path h="3700135" w="15943403">
                <a:moveTo>
                  <a:pt x="0" y="0"/>
                </a:moveTo>
                <a:lnTo>
                  <a:pt x="15943403" y="0"/>
                </a:lnTo>
                <a:lnTo>
                  <a:pt x="15943403" y="3700135"/>
                </a:lnTo>
                <a:lnTo>
                  <a:pt x="0" y="3700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-3152" b="-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7194" y="5143500"/>
            <a:ext cx="15943403" cy="1076180"/>
          </a:xfrm>
          <a:custGeom>
            <a:avLst/>
            <a:gdLst/>
            <a:ahLst/>
            <a:cxnLst/>
            <a:rect r="r" b="b" t="t" l="l"/>
            <a:pathLst>
              <a:path h="1076180" w="15943403">
                <a:moveTo>
                  <a:pt x="0" y="0"/>
                </a:moveTo>
                <a:lnTo>
                  <a:pt x="15943403" y="0"/>
                </a:lnTo>
                <a:lnTo>
                  <a:pt x="15943403" y="1076180"/>
                </a:lnTo>
                <a:lnTo>
                  <a:pt x="0" y="107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52682" y="258239"/>
            <a:ext cx="1231280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DOCKER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4534" y="66880"/>
            <a:ext cx="1193893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SUMMARY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879248" y="1155700"/>
            <a:ext cx="15380052" cy="872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Microservices Architecture with 8 independent services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Secure JWT-based Authentication &amp; Role-Based Access Control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Complete Service Lifecycle Management (Pending → Closed)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Real-time Email Notifications via RabbitMQ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Automated Billing &amp; Invoice Generation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Spare Parts Inventory Management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CI/CD Pipeline with Jenkins, Docker &amp; SonarCloud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90%+ Code Coverage with JUnit &amp; Mockito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4242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Application Lifecycle: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42424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REQUESTED → ASSIGNED → IN_PROGRESS → COMPLETED → CLOSED → PAID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7035" y="1636614"/>
            <a:ext cx="6697269" cy="6660739"/>
          </a:xfrm>
          <a:custGeom>
            <a:avLst/>
            <a:gdLst/>
            <a:ahLst/>
            <a:cxnLst/>
            <a:rect r="r" b="b" t="t" l="l"/>
            <a:pathLst>
              <a:path h="6660739" w="6697269">
                <a:moveTo>
                  <a:pt x="0" y="0"/>
                </a:moveTo>
                <a:lnTo>
                  <a:pt x="6697270" y="0"/>
                </a:lnTo>
                <a:lnTo>
                  <a:pt x="6697270" y="6660739"/>
                </a:lnTo>
                <a:lnTo>
                  <a:pt x="0" y="6660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30038" y="3731333"/>
            <a:ext cx="10627924" cy="257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32"/>
              </a:lnSpc>
              <a:spcBef>
                <a:spcPct val="0"/>
              </a:spcBef>
            </a:pPr>
            <a:r>
              <a:rPr lang="en-US" sz="15023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DAG9qyPX-PE</dc:identifier>
  <dcterms:modified xsi:type="dcterms:W3CDTF">2011-08-01T06:04:30Z</dcterms:modified>
  <cp:revision>1</cp:revision>
  <dc:title>Vehicle Service Management System</dc:title>
</cp:coreProperties>
</file>